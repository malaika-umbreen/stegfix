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7" r:id="rId2"/>
    <p:sldId id="256" r:id="rId3"/>
    <p:sldId id="308" r:id="rId4"/>
    <p:sldId id="258" r:id="rId5"/>
    <p:sldId id="276" r:id="rId6"/>
    <p:sldId id="260" r:id="rId7"/>
    <p:sldId id="261" r:id="rId8"/>
    <p:sldId id="262" r:id="rId9"/>
    <p:sldId id="302" r:id="rId10"/>
    <p:sldId id="280" r:id="rId11"/>
    <p:sldId id="310" r:id="rId12"/>
    <p:sldId id="304" r:id="rId13"/>
    <p:sldId id="314" r:id="rId14"/>
    <p:sldId id="306" r:id="rId15"/>
    <p:sldId id="305" r:id="rId16"/>
    <p:sldId id="303" r:id="rId17"/>
    <p:sldId id="316" r:id="rId18"/>
    <p:sldId id="317" r:id="rId19"/>
    <p:sldId id="263" r:id="rId20"/>
    <p:sldId id="277" r:id="rId21"/>
    <p:sldId id="264" r:id="rId22"/>
    <p:sldId id="312" r:id="rId23"/>
    <p:sldId id="271" r:id="rId24"/>
    <p:sldId id="315" r:id="rId25"/>
    <p:sldId id="307" r:id="rId26"/>
    <p:sldId id="265" r:id="rId27"/>
    <p:sldId id="278" r:id="rId28"/>
    <p:sldId id="266" r:id="rId29"/>
    <p:sldId id="279" r:id="rId30"/>
    <p:sldId id="292" r:id="rId31"/>
    <p:sldId id="311" r:id="rId32"/>
    <p:sldId id="291" r:id="rId33"/>
    <p:sldId id="283" r:id="rId34"/>
    <p:sldId id="274" r:id="rId35"/>
    <p:sldId id="293" r:id="rId36"/>
    <p:sldId id="294" r:id="rId37"/>
    <p:sldId id="295" r:id="rId38"/>
    <p:sldId id="296" r:id="rId39"/>
    <p:sldId id="297" r:id="rId40"/>
    <p:sldId id="300" r:id="rId41"/>
    <p:sldId id="299" r:id="rId42"/>
    <p:sldId id="270" r:id="rId43"/>
    <p:sldId id="285" r:id="rId44"/>
    <p:sldId id="286" r:id="rId45"/>
    <p:sldId id="289" r:id="rId46"/>
    <p:sldId id="27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84817-E9A0-4770-B89E-96C05E3C3D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D5638-A4C1-4A69-8A37-4B920E5878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492" y="412125"/>
            <a:ext cx="9865217" cy="5550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1028" y="2236396"/>
            <a:ext cx="9144000" cy="697303"/>
          </a:xfrm>
        </p:spPr>
        <p:txBody>
          <a:bodyPr>
            <a:normAutofit fontScale="90000"/>
          </a:bodyPr>
          <a:lstStyle/>
          <a:p>
            <a:r>
              <a:rPr lang="en-US" altLang="en-GB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Transformer-Based Detector for Network Steganography with Improved Generalization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6075" y="4004106"/>
            <a:ext cx="5981699" cy="1333835"/>
          </a:xfrm>
        </p:spPr>
        <p:txBody>
          <a:bodyPr>
            <a:normAutofit fontScale="80000" lnSpcReduction="10000"/>
          </a:bodyPr>
          <a:lstStyle/>
          <a:p>
            <a:pPr algn="l"/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Malaika Umbreen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UOC-IT-F2022-87</a:t>
            </a:r>
          </a:p>
          <a:p>
            <a:pPr algn="l"/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Shamama Muzaffar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UOC-IT-F2022-69</a:t>
            </a:r>
          </a:p>
          <a:p>
            <a:pPr algn="l"/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Laraib Fatima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UOC-IT-F2022-74</a:t>
            </a:r>
            <a:endParaRPr lang="en-US" altLang="en-GB" dirty="0"/>
          </a:p>
          <a:p>
            <a:pPr algn="l"/>
            <a:endParaRPr lang="en-US" altLang="en-GB" dirty="0"/>
          </a:p>
          <a:p>
            <a:pPr algn="l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95350" y="273437"/>
            <a:ext cx="8889546" cy="89255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 panose="03040902040508030806" pitchFamily="66" charset="0"/>
              </a:rPr>
              <a:t>T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he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 panose="03040902040508030806" pitchFamily="66" charset="0"/>
              </a:rPr>
              <a:t>U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niversity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 panose="03040902040508030806" pitchFamily="66" charset="0"/>
              </a:rPr>
              <a:t>o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f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 panose="03040902040508030806" pitchFamily="66" charset="0"/>
              </a:rPr>
              <a:t>C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hakwal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&amp; Information Technology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2356415" y="5504803"/>
            <a:ext cx="6753225" cy="457200"/>
          </a:xfrm>
          <a:prstGeom prst="rect">
            <a:avLst/>
          </a:prstGeom>
        </p:spPr>
        <p:txBody>
          <a:bodyPr vert="horz" lIns="45720" rIns="45720">
            <a:noAutofit/>
          </a:bodyPr>
          <a:lstStyle>
            <a:lvl1pPr marL="0" marR="64135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5"/>
              </a:spcBef>
              <a:buClr>
                <a:schemeClr val="accent1"/>
              </a:buClr>
              <a:buFont typeface="Verdana" panose="020B0604030504040204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en-US" alt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Fahim Abid</a:t>
            </a:r>
          </a:p>
        </p:txBody>
      </p:sp>
      <p:pic>
        <p:nvPicPr>
          <p:cNvPr id="8" name="Picture 7" descr="A logo with a building and a ribbon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057" y="0"/>
            <a:ext cx="1853572" cy="1862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name: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368C3-716A-47CB-BA91-26E9CFFC421D}"/>
              </a:ext>
            </a:extLst>
          </p:cNvPr>
          <p:cNvSpPr txBox="1"/>
          <p:nvPr/>
        </p:nvSpPr>
        <p:spPr>
          <a:xfrm>
            <a:off x="1742173" y="2743200"/>
            <a:ext cx="8316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Malaika Umbreen: </a:t>
            </a: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UOC-IT-F2022-87</a:t>
            </a:r>
            <a:r>
              <a:rPr lang="en-US" sz="2800" b="1" dirty="0"/>
              <a:t> 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3139011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3023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Introduction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Existing Systems &amp; Research Gap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Proposed Solution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Project Scope &amp; Objectives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Functional Requirements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System Diagrams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Tools &amp; Technologies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Model Evaluation Results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System Screenshots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</a:rPr>
              <a:t>Conclusion &amp; Future Work</a:t>
            </a:r>
          </a:p>
          <a:p>
            <a:pPr>
              <a:lnSpc>
                <a:spcPct val="150000"/>
              </a:lnSpc>
            </a:pPr>
            <a:endParaRPr lang="en-GB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071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 steganography hides secret data inside normal network protocol traffic 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(DNS, ICMP, TCP, UDP)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unlike encryption, it conceals the very existence of the communication.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Adversaries use it for 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exfiltration, covert Command &amp; Control (C2), and long-term persistence 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inside compromised networks using freely available tools: dns2tcp, dnscat2, iodine, Ptunnel, Covert_TCP.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Conventional 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IDS (Snort, Zeek), firewalls,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deep packet inspection cannot detect protocol-compliant covert traffic-  they generate no alert.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Existing deep learning detectors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(LSTM, CNN)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fail catastrophically on new techniques: LSTM dropped from 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99.4% </a:t>
            </a:r>
            <a:r>
              <a:rPr lang="en-US" alt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76.9%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accuracy under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cross-technique evaluation 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(Cho &amp; Lai).</a:t>
            </a:r>
          </a:p>
          <a:p>
            <a:pPr>
              <a:lnSpc>
                <a:spcPct val="100000"/>
              </a:lnSpc>
            </a:pP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project delivers a </a:t>
            </a:r>
            <a:r>
              <a:rPr lang="en-US" altLang="en-GB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real-time, browser-accessible detection</a:t>
            </a:r>
            <a:r>
              <a:rPr lang="en-US" altLang="en-GB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platform powered by a custom Transformer model no specialist training required to operate.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201525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0164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Existing Systems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10870" y="514350"/>
          <a:ext cx="1006348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Cross-Technique (LOTO)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Signature-Based IDS (Snort/Zeek)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Tools only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new or modified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Fails with evasion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enviroment specific calibration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85-92%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feature engineering ;protocol-specific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evaluated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temporal dependancy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~76-87%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76.20% (collapse)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receptive field ; technique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(Cho &amp; Lai 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76.9%(collapse)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tool signatures, not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5805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04520" y="5432425"/>
            <a:ext cx="99866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LSTM dropped 22.5 percentage points under cross-technique evaluation; operationally catastrophic for a real SOC.No existing system provides: multi-protocol + behavioural generalisation + web interface + forensic interpretability- all in one.</a:t>
            </a:r>
            <a:endParaRPr lang="en-GB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3023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core failure dimensions (no existing system solves all):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systems: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reactive only; any modified tool bypasses detection entirely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ML : 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protocol-specific feature engineering; no cross-protocol transfer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brittleness :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collapses on unseen techniques (LSTM: 99.4%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76.9%)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Anti-forensic evasion gap: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multi-protocol detector evaluated against timing obfuscation,   header randomisation, and flow blending simultaneously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Problem: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real-world network steganography detector must simultaneously achieve high cross-technique generalisation, multi-protocol coverage, behavioral learning, anti-forensic robustness, and analyst-accessible forensic output. No existing published system delivers all five.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22226"/>
            <a:ext cx="11587166" cy="62071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Each of </a:t>
            </a: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225 flow-level behavioral features </a:t>
            </a: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treated as an independent Transformer token.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Three simultaneous outputs: </a:t>
            </a: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Binary Detection (Normal/Covert) + Technique (Header Manipulation / Timing Obfuscation / Flow Blending) + Protocol (DNS/ICMP/TCP/UDP).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Trained on 13,848 samples; all identifiers (IPs, ports, timestamps) removed before training to enforce </a:t>
            </a: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Behavioral generalization.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Live capture</a:t>
            </a: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controls, real-time alerts panel, technique doughnut chart, protocol bar graph.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 detail, technique analysis, protocol statistics, </a:t>
            </a: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CSV log export</a:t>
            </a: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Accessible from any modern browser </a:t>
            </a:r>
            <a:r>
              <a:rPr lang="en-US" altLang="en-GB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 command-line access needed</a:t>
            </a:r>
            <a:r>
              <a:rPr lang="en-US" altLang="en-GB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altLang="en-GB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22226"/>
            <a:ext cx="11587166" cy="62071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en-US" b="1" dirty="0"/>
          </a:p>
        </p:txBody>
      </p:sp>
      <p:pic>
        <p:nvPicPr>
          <p:cNvPr id="5" name="Content Placeholder 4" descr="Covert traffic - System Design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027" y="656040"/>
            <a:ext cx="9853963" cy="55459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701"/>
            <a:ext cx="12192000" cy="82469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Diagrams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7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–to-End pipeline of Transformer based detector for an Network Steganography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26FBC-2666-4F72-BFD5-E98BC3A9D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4" y="837398"/>
            <a:ext cx="11213432" cy="54719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 protocol Dataset combination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36B0F-D847-42C9-8045-F0A87DCAE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69" y="695325"/>
            <a:ext cx="8364755" cy="557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8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1ED74-139A-4E14-B06D-F502749DD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36" y="853181"/>
            <a:ext cx="7958463" cy="53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0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A5ACB6-81D8-4D53-8FA0-1ED7B1B2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33" y="837398"/>
            <a:ext cx="6901313" cy="5144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BBA5B-CBB0-4474-9DA7-86B76074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754" y="-81702"/>
            <a:ext cx="11808975" cy="1072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7F10A-37BA-4107-88EE-DCE486D6B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7" y="6376544"/>
            <a:ext cx="12192000" cy="53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6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team member: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368C3-716A-47CB-BA91-26E9CFFC421D}"/>
              </a:ext>
            </a:extLst>
          </p:cNvPr>
          <p:cNvSpPr txBox="1"/>
          <p:nvPr/>
        </p:nvSpPr>
        <p:spPr>
          <a:xfrm>
            <a:off x="1742173" y="2743200"/>
            <a:ext cx="8316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Shamama</a:t>
            </a:r>
            <a:r>
              <a:rPr lang="en-US" sz="2800" b="1" dirty="0"/>
              <a:t> Muzaffar : </a:t>
            </a: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UOC-IT-F2022-69</a:t>
            </a:r>
            <a:r>
              <a:rPr lang="en-US" sz="2800" b="1" dirty="0"/>
              <a:t> 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105549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B2BAE-8D24-4CA3-A8CE-F543630BB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134" y="766748"/>
            <a:ext cx="8431731" cy="562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50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260" y="102889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Diagrams - Packet to flow level features conversion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12F0E-40EB-4A09-9955-BFD880B7D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60" y="875701"/>
            <a:ext cx="8104872" cy="54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87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E279F-7E6F-48DE-BDB4-1E16BB769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14" y="855460"/>
            <a:ext cx="10046571" cy="5381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A36E1-C381-472D-B662-87DC78E8D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8" y="-39527"/>
            <a:ext cx="11802879" cy="1072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50118-8CD3-4D62-A945-1BCB98A2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450210"/>
            <a:ext cx="12192000" cy="54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46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ECA1B8-6F19-4294-8B35-D69135802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4" y="-91327"/>
            <a:ext cx="11808975" cy="1072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DE1C41-3001-4A25-BD4C-CFCBF816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4" y="6488711"/>
            <a:ext cx="12192000" cy="542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16DFC-0971-41BD-9889-BB632A000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07" y="856648"/>
            <a:ext cx="11735054" cy="54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30237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Project Scope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SCOPE: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Detection across </a:t>
            </a: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DNS, ICMP, TCP, UDP </a:t>
            </a: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using 225 flow-level behavioral features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React.js + TypeScript frontend with </a:t>
            </a: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live </a:t>
            </a:r>
            <a:r>
              <a:rPr lang="en-US" altLang="en-GB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Npcap</a:t>
            </a: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capture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FAST API + MySQL database backend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Pre-trained FeatureTokenTransformer via Python Flask microservice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 10/11</a:t>
            </a: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Chrome, Firefox, Edge compatible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CSV audit log export</a:t>
            </a:r>
          </a:p>
          <a:p>
            <a:pPr algn="just">
              <a:lnSpc>
                <a:spcPct val="100000"/>
              </a:lnSpc>
            </a:pPr>
            <a:r>
              <a:rPr lang="en-US" alt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 OF SCOPE: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Physical-layer </a:t>
            </a: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 side-channel steganography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Application-layer</a:t>
            </a: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media steganography (</a:t>
            </a: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image, audio, video</a:t>
            </a: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US" altLang="en-GB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Linux / macOS deployment </a:t>
            </a:r>
            <a:r>
              <a:rPr lang="en-US" altLang="en-GB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(Npcap is Windows-only)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43148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Functional Requirements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381000" y="655320"/>
          <a:ext cx="11229975" cy="502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chemeClr val="tx1"/>
                          </a:solidFill>
                          <a:latin typeface="Georgia" panose="02040502050405020303" charset="0"/>
                          <a:cs typeface="Georgia" panose="02040502050405020303" charset="0"/>
                        </a:rPr>
                        <a:t>    </a:t>
                      </a:r>
                      <a:r>
                        <a:rPr sz="2400" b="1">
                          <a:solidFill>
                            <a:schemeClr val="tx1"/>
                          </a:solidFill>
                          <a:latin typeface="Georgia" panose="02040502050405020303" charset="0"/>
                          <a:cs typeface="Georgia" panose="02040502050405020303" charset="0"/>
                        </a:rPr>
                        <a:t>#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                  </a:t>
                      </a:r>
                      <a:r>
                        <a:rPr lang="en-US" altLang="en-GB" sz="2400">
                          <a:solidFill>
                            <a:schemeClr val="tx1"/>
                          </a:solidFill>
                          <a:latin typeface="Georgia" panose="02040502050405020303" charset="0"/>
                          <a:cs typeface="Georgia" panose="02040502050405020303" charset="0"/>
                        </a:rPr>
                        <a:t>  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                                                  </a:t>
                      </a:r>
                      <a:r>
                        <a:rPr lang="en-US" altLang="en-GB" sz="2400">
                          <a:solidFill>
                            <a:schemeClr val="tx1"/>
                          </a:solidFill>
                          <a:latin typeface="Georgia" panose="02040502050405020303" charset="0"/>
                          <a:cs typeface="Georgia" panose="02040502050405020303" charset="0"/>
                        </a:rPr>
                        <a:t>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/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User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Registration, login, session enforcement, secure logout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FR-2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Traffic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Start/Stop Npcap from dashboard; live packet display with IP, protocol, 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FR-3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Dashboard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alerts panel, technique doughnut chart, protocol bar graph, recent detections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FR-4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Flow Detail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Per-protocol Normal vs. Covert % breakdown, tabbed navigation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FR-5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Technique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(Normal/Covert), pie (Flow Blending), line (Timing Obfuscation) charts per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Protocol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Packet count, covert detection count, real-time traffic graph (≤5s update interval)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b="1">
                          <a:sym typeface="+mn-ea"/>
                        </a:rPr>
                        <a:t>FR-7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Logs &amp;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Persistent MySQL detection logs + CSV export for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659765" y="5751830"/>
            <a:ext cx="9902825" cy="707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Total: 22 Functional Requirements + 20 Non-Functional Requirements  all verified and passed.</a:t>
            </a:r>
            <a:endParaRPr lang="en-GB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43148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0113"/>
            <a:ext cx="11449050" cy="53149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 Model Objectives: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endParaRPr lang="en-US" alt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Integrate FeatureTokenTransformer achieving ≥ </a:t>
            </a: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90% binary accuracy </a:t>
            </a: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across all 4    protocols  Achieved: 94.42%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Validate </a:t>
            </a: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technique classification and protocol attribution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Analyzes it on unseen data to perform </a:t>
            </a: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generalization (LOTO)</a:t>
            </a:r>
            <a:endParaRPr lang="en-US" alt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endParaRPr lang="en-US" alt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Application Objectives: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2743200" algn="ctr"/>
                <a:tab pos="5486400" algn="r"/>
                <a:tab pos="457200" algn="l"/>
              </a:tabLst>
            </a:pP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Live Npcap </a:t>
            </a: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capture via Start/Stop dashboard controls </a:t>
            </a: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dashboard </a:t>
            </a: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alerts, charts, tables </a:t>
            </a: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 Detail, Technique Analysis, Protocol Analysis</a:t>
            </a: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Detection Logs modules </a:t>
            </a: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  <a:tabLst>
                <a:tab pos="2743200" algn="ctr"/>
                <a:tab pos="5486400" algn="r"/>
                <a:tab pos="457200" algn="l"/>
              </a:tabLst>
            </a:pPr>
            <a:r>
              <a:rPr lang="en-US" alt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CSV export </a:t>
            </a:r>
            <a:r>
              <a:rPr lang="en-US" alt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offline reporting </a:t>
            </a: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Architecture Design Diagram(</a:t>
            </a:r>
            <a:r>
              <a:rPr lang="en-US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StegFix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135E6-8273-4F7D-88B7-34340B162D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" t="16504" r="1728" b="9511"/>
          <a:stretch/>
        </p:blipFill>
        <p:spPr>
          <a:xfrm>
            <a:off x="495300" y="914400"/>
            <a:ext cx="11191875" cy="554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91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968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Tools &amp; Technologies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8771235"/>
              </p:ext>
            </p:extLst>
          </p:nvPr>
        </p:nvGraphicFramePr>
        <p:xfrm>
          <a:off x="928370" y="1017269"/>
          <a:ext cx="9433560" cy="401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2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                        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                        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React.js , TSX(Typescript), CSS3, Chart.js,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MySQL 8.0, Python ,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Packet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 err="1"/>
                        <a:t>Npcap</a:t>
                      </a:r>
                      <a:r>
                        <a:rPr lang="en-US" altLang="en-GB" dirty="0"/>
                        <a:t> 1.78, Wireshark 4.0.6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ML /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Python 3.9, </a:t>
                      </a:r>
                      <a:r>
                        <a:rPr lang="en-US" altLang="en-GB" dirty="0" err="1"/>
                        <a:t>PyTorch</a:t>
                      </a:r>
                      <a:r>
                        <a:rPr lang="en-US" altLang="en-GB" dirty="0"/>
                        <a:t> 2.0 , Python Flask 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Development </a:t>
                      </a:r>
                      <a:r>
                        <a:rPr lang="en-US" altLang="en-GB" dirty="0" err="1"/>
                        <a:t>Enviroment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VS Code, GitHub, Node.js 18+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OS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Windows 10/11 64-bit (Npcap requirement)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Training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Intel Core i7, 16 GB RAM, NVIDIA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1853A1-6D39-4C96-90A3-4A19316C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203"/>
            <a:ext cx="11808975" cy="1072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C0AB28-E037-4F54-AF6E-A435D3E96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9" y="791976"/>
            <a:ext cx="6364776" cy="49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B7B6A4-356C-42CF-A40A-D197F064C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58" y="1291891"/>
            <a:ext cx="10432683" cy="4860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7382E-DFBE-4954-8EE6-B8E5443FC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6346738"/>
            <a:ext cx="12192000" cy="54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35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team member: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368C3-716A-47CB-BA91-26E9CFFC421D}"/>
              </a:ext>
            </a:extLst>
          </p:cNvPr>
          <p:cNvSpPr txBox="1"/>
          <p:nvPr/>
        </p:nvSpPr>
        <p:spPr>
          <a:xfrm>
            <a:off x="1742173" y="2743200"/>
            <a:ext cx="8316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Laraib</a:t>
            </a:r>
            <a:r>
              <a:rPr lang="en-US" sz="2800" b="1" dirty="0"/>
              <a:t> Fatima : </a:t>
            </a: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UOC-IT-F2022-74</a:t>
            </a:r>
            <a:r>
              <a:rPr lang="en-US" sz="2800" b="1" dirty="0"/>
              <a:t> 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1552110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1594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-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815A17-E23C-43B3-8806-97035BA890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"/>
          <a:stretch/>
        </p:blipFill>
        <p:spPr>
          <a:xfrm>
            <a:off x="1163320" y="628651"/>
            <a:ext cx="9249804" cy="58306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1594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-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4DE93-248F-460C-8F42-F7FCC65A5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1" b="4194"/>
          <a:stretch/>
        </p:blipFill>
        <p:spPr>
          <a:xfrm>
            <a:off x="1852448" y="646387"/>
            <a:ext cx="7788166" cy="57465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F87DF-65E5-4751-96F4-42862D6BAB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" t="7241" r="4125"/>
          <a:stretch/>
        </p:blipFill>
        <p:spPr>
          <a:xfrm>
            <a:off x="1403131" y="695324"/>
            <a:ext cx="9412014" cy="57640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8262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17C1D2-15CD-4BE0-8FBD-30F15D9913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 b="1388"/>
          <a:stretch/>
        </p:blipFill>
        <p:spPr>
          <a:xfrm>
            <a:off x="1047751" y="695325"/>
            <a:ext cx="10267950" cy="57640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726815" y="6184394"/>
            <a:ext cx="4738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 dirty="0"/>
              <a:t>Sequence Diagram : User Authentication</a:t>
            </a:r>
            <a:endParaRPr lang="en-GB" altLang="en-US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7743C6-0362-4B10-9FD8-042287B25B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6" b="9028"/>
          <a:stretch/>
        </p:blipFill>
        <p:spPr>
          <a:xfrm>
            <a:off x="1663262" y="553594"/>
            <a:ext cx="8237482" cy="572108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512929" y="6148553"/>
            <a:ext cx="4738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600" b="1" dirty="0"/>
              <a:t>Sequence Diagram : Live Capture and Detection Flow</a:t>
            </a:r>
            <a:endParaRPr lang="en-GB" alt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FF31F-2F54-432F-99D3-E663568D7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7" b="1951"/>
          <a:stretch/>
        </p:blipFill>
        <p:spPr>
          <a:xfrm>
            <a:off x="1782981" y="569360"/>
            <a:ext cx="8626038" cy="568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95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Diagrams –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893207" y="6156106"/>
            <a:ext cx="533082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dirty="0"/>
              <a:t> </a:t>
            </a:r>
            <a:r>
              <a:rPr lang="en-US" altLang="en-GB" b="1" dirty="0"/>
              <a:t>Sequence Diagram: CSV Log Export Flow</a:t>
            </a:r>
            <a:endParaRPr lang="en-GB" alt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27E5E1-ADD0-477D-8DA8-782BC75797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 b="11379"/>
          <a:stretch/>
        </p:blipFill>
        <p:spPr>
          <a:xfrm>
            <a:off x="1797270" y="569361"/>
            <a:ext cx="8158654" cy="566590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Conclusion &amp; Future Work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78436" y="659130"/>
            <a:ext cx="1165161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generalization : 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all traffic identifiers before training ensures the model learns behavior, not tool fingerprints. Minimum accuracy floor: 90.60% even on completely unseen techniques.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Five-dimensional gap closed: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generalization accuracy + behavioral learning + forensic interpretability + browser-accessible analyst interface; all achieved simultaneously.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traffic validation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authenticate framework performance on live, uncontrolled network environments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expansion: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support to QUIC, HTTP/2, DNS-over-HTTPS, and IPv6 extension headers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security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plug into Splunk,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Wireshark for seamless SOC workflow adoption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 across organizations to improve generalization without exposing raw traffic data.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App - 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11" name="Picture 11" descr="login"/>
          <p:cNvPicPr>
            <a:picLocks noChangeAspect="1"/>
          </p:cNvPicPr>
          <p:nvPr/>
        </p:nvPicPr>
        <p:blipFill>
          <a:blip r:embed="rId2"/>
          <a:srcRect l="30936" t="3736" r="31948" b="5391"/>
          <a:stretch>
            <a:fillRect/>
          </a:stretch>
        </p:blipFill>
        <p:spPr>
          <a:xfrm>
            <a:off x="680719" y="986791"/>
            <a:ext cx="5223509" cy="5213984"/>
          </a:xfrm>
          <a:prstGeom prst="rect">
            <a:avLst/>
          </a:prstGeom>
        </p:spPr>
      </p:pic>
      <p:pic>
        <p:nvPicPr>
          <p:cNvPr id="12" name="Picture 12" descr="signup"/>
          <p:cNvPicPr>
            <a:picLocks noChangeAspect="1"/>
          </p:cNvPicPr>
          <p:nvPr/>
        </p:nvPicPr>
        <p:blipFill>
          <a:blip r:embed="rId3"/>
          <a:srcRect l="32286" r="31414"/>
          <a:stretch>
            <a:fillRect/>
          </a:stretch>
        </p:blipFill>
        <p:spPr>
          <a:xfrm>
            <a:off x="6187440" y="996315"/>
            <a:ext cx="5223510" cy="52139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13" name="Picture 13" descr="dashboar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723900"/>
            <a:ext cx="10552430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691515"/>
            <a:ext cx="10952480" cy="54571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790575"/>
            <a:ext cx="1087183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733426"/>
            <a:ext cx="11061065" cy="549592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777612"/>
            <a:ext cx="11584940" cy="54970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21" name="Picture 21" descr="protocol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733425"/>
            <a:ext cx="10749915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2547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Screenshots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" y="752476"/>
            <a:ext cx="10615295" cy="54959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6349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Tasks Distribution</a:t>
            </a:r>
            <a:endParaRPr lang="en-US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3016313"/>
              </p:ext>
            </p:extLst>
          </p:nvPr>
        </p:nvGraphicFramePr>
        <p:xfrm>
          <a:off x="584200" y="733425"/>
          <a:ext cx="10585669" cy="5707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8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7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919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 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Responsibilities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9544">
                <a:tc>
                  <a:txBody>
                    <a:bodyPr/>
                    <a:lstStyle/>
                    <a:p>
                      <a:pPr algn="l"/>
                      <a:r>
                        <a:rPr lang="en-US" alt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Malaika Umbreen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combining (Kaggle DNS + self-generated ICMP, TCP, UDP data)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and final dataset preparation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FeatureTokenTransformer model training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LOTO (Leave-One-Technique-Out) evaluation and results analysis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model-related work and inference microservice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8703">
                <a:tc>
                  <a:txBody>
                    <a:bodyPr/>
                    <a:lstStyle/>
                    <a:p>
                      <a:pPr algn="l"/>
                      <a:r>
                        <a:rPr lang="en-US" alt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Shamama Muzaffar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Self-generated dataset creation (ICMP, TCP, UDP covert and normal traffic in lab environment)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React.js frontend development and dashboard UI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 RESTful API backend development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database design and implementation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functionality (live capture, alerts, charts, CSV export)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6444">
                <a:tc>
                  <a:txBody>
                    <a:bodyPr/>
                    <a:lstStyle/>
                    <a:p>
                      <a:pPr algn="l"/>
                      <a:r>
                        <a:rPr lang="en-US" alt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Laraib Fatima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 extraction , Features categorization in an Dataset (Time obfuscation ,Flow blending, Header Manipulation)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references and literature review documentation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Figures, diagrams and images preparation (Use Case, ERD, Class Diagram, Architecture, Sequence Diagrams, Interface Designs)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project documentation and FYP Book writing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endParaRPr lang="en-US" alt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REFERENCES: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5735" y="659130"/>
            <a:ext cx="11651615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G. J. Simmons,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prisoners’ problem and the subliminal channel,”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Advances in Cryptology: Proc. CRYPTO 83, D.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Chaum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Ed. New York, NY: Plenum Press, 1984, pp. 51–67.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https://link.springer.com/chapter/10.1007/978-1-4684-4730-9_5</a:t>
            </a: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B. W. Lampson,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note on the confinement problem,”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Communications of the ACM, vol. 16, no. 10, pp. 613–615, Oct. 1973. [Online]. Available: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https://doi.org/10.1145/362375.362389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S.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Wendzel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Zander, B. Fechner, and C.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Herdin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“Pattern-based survey and categorization of network covert channel techniques,”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ACM Computing Surveys, vol. 47, no. 3, Art. no. 50, Feb. 2015.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https://doi.org/10.1145/2684195</a:t>
            </a:r>
          </a:p>
          <a:p>
            <a:pPr algn="just"/>
            <a:endParaRPr lang="en-US" altLang="en-GB" sz="16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W.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Mazurczyk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Wendzel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Zander, A.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Houmansadr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Szczypiorski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Hiding in Communication Networks: Fundamentals, Mechanisms, Applications, and Countermeasures.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Hoboken, NJ: Wiley-IEEE Press, 2016. ISBN: 978-1-118-86169-1.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https://www.wiley.com/en-us/Information+Hiding+in+Communication+Networks-p-9781118861691</a:t>
            </a: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S.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Wendzel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Mazurczyk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Caviglione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Mileva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“Hiding patterns in network steganography: A reference model and survey,”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Surveys &amp; Tutorials, vol. 21, no. 2, pp. 1441–1476, 2nd Qtr. 2019.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https://doi.org/10.1109/COMST.2019.2906838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 S. Zander, T. Nguyen, and G. Armitage,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“Automated traffic classification and application identification using machine learning,”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 Proc. IEEE Conference on Local Computer Networks (LCN), Sydney, NSW, Australia, 2005, pp. 250–257.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https://doi.org/10.1109/LCN.2005.35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 S. Zander, G. Armitage, and P. Branch,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survey of covert channels and countermeasures in computer network protocols,”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Communications Surveys and Tutorials, vol. 9, no. 3, pp. 44–57, 3rd Qtr. 2007.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https://doi.org/10.1109/COMST.2007.4317620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REFERENCES: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5735" y="659130"/>
            <a:ext cx="1165161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8]  E.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Revyakina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Gazizov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“Development of methods and tools for implementing and detecting network steganography,”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Bulletin of Don State Technical University, vol. 21, no. 1, pp. 88–96, 2021.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https://doi.org/10.23947/2687-1653-2021-21-1-88-96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 K. Cho and C.-H. Lai,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new approach for network steganography detection based on deep learning techniques,”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Advanced Computer Science and Applications (IJACSA), vol. 12, no. 7, 2021.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http://dx.doi.org/10.14569/IJACSA.2021.0120705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 M. W. U. Rahman, Y.-Z. Lin, C. Weeks, D. Ruddell, J.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Gabriellini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Hayes, S. Hariri, P.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Satam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E. V. Ziegler Jr.,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“AI/ML based detection and categorization of covert communication in IPv6 network,”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10, pp. 98898–98912, 2022.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https://doi.org/10.1109/ACCESS.2022.3206291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 S.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Hochreiter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“Long short-term memory,”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Computation, vol. 9, no. 8, pp. 1735–1780, Nov. 1997.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https://doi.org/10.1162/neco.1997.9.8.1735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 Y.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Bottou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Bengio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P. Haffner,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“Gradient-based learning applied to document recognition,”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IEEE, vol. 86, no. 11, pp. 2278–2324, Nov. 1998. [Online]. Available: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https://doi.org/10.1109/5.726791</a:t>
            </a:r>
          </a:p>
          <a:p>
            <a:pPr algn="just"/>
            <a:endParaRPr lang="en-US" altLang="en-GB" sz="16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 A. Vaswani, N.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Shazeer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Parmar, J.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Uszkoreit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Jones, A. N. Gomez,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Ł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Kaiser, and I.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Polosukhin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“Attention is all you need,”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Advances in Neural Information Processing Systems (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vol. 30, 2017. [Online]. Available: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https://arxiv.org/abs/1706.03762</a:t>
            </a:r>
          </a:p>
          <a:p>
            <a:pPr algn="just"/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 J. Devlin, M.-W. Chang, K. Lee, and K. Toutanova,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“BERT: Pre-training of deep bidirectional Transformers for language understanding,”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NAACL-HLT 2019, Minneapolis, MN, pp. 4171–4186, 2019.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https://arxiv.org/abs/1810.04805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85" y="12701"/>
            <a:ext cx="11587166" cy="55665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REFERENCES: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59326"/>
            <a:ext cx="12192000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Department of Computer Science &amp; Information Technology, University of Chakwal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5735" y="659130"/>
            <a:ext cx="1165161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 Q. Sun, J. Liu, J. Wang, T. Yan, D. An, and F. Qi,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“Transformer-based detection method for DNS covert channel,”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 International Symposium on Grids &amp; Clouds (ISGC) &amp;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HEPiX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2023 Workshop,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(ISGC &amp; HEPiX2023), Article 011, 2023.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https://doi.org/10.22323/1.434.0011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 R.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Gurunath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H.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Alahmadi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Samanta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Z. Khan, and A.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Alahmadi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novel approach for linguistic steganography evaluation based on artificial neural networks,”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9, pp. 120869–120879, 2021.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https://doi.org/10.1109/ACCESS.2021.3108183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 D.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Polisetty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W. A. Rizvi,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“GAN-based adaptive image steganography system for enhanced security and imperceptibility,”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Applications, vol. 187, no. 6, pp. 12–19, May 2025.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https://ijca.phdfocus.com/archives/volume187/issue6/gan-based-adaptive-image-steganography/</a:t>
            </a: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 S. Rahman, M.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Merabti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Askwith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novel and efficient digital image steganography technique using least significant bit substitution,”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vol. 15, Art. no. 1455, 2025.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https://doi.org/10.1038/s41598-024-83147-3</a:t>
            </a: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 Y. Feng, L. Xu, X. Lu, G. Zhang, and W. Rao,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robust coverless audio steganography based on differential privacy clustering,”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Multimedia, pp. 1–16, 2025.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https://doi.org/10.1109/TMM.2025.3543107</a:t>
            </a: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 N. A. Ali and R. J.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Mstafa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“Optimizing region of interest selection for effective embedding in video steganography based on genetic algorithms,” Computer Systems Science and Engineering, vol. 47, no. 2, pp. 1451–1469, 2023.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https://doi.org/10.32604/csse.2023.039957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 D. P.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Kingma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Ba,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“Adam: A method for stochastic optimization,” 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 International Conference on Learning Representations (ICLR), San Diego, CA, 2015. [Online]. Available: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https://arxiv.org/abs/1412.6980</a:t>
            </a: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 A.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Paszke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imperative style, high-performance deep learning library,” in Advances in Neural Information Processing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Systems, vol. 32, pp. 8024–8035, 2019. [Online]. Available: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https://arxiv.org/abs/1912.01703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 F. </a:t>
            </a:r>
            <a:r>
              <a:rPr lang="en-US" alt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Pedregosa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US" alt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“Scikit-learn: Machine learning in Python,”</a:t>
            </a:r>
            <a:r>
              <a:rPr lang="en-US" alt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Machine Learning Research, vol. 12, pp. 2825–2830, 2011. [Online]. Available: </a:t>
            </a:r>
            <a:r>
              <a:rPr lang="en-US" altLang="en-GB" sz="1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https://jmlr.org/papers/v12/pedregosa11a.html</a:t>
            </a:r>
          </a:p>
          <a:p>
            <a:endParaRPr lang="en-US" altLang="en-GB" sz="16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62" y="1624012"/>
            <a:ext cx="7810500" cy="4238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351"/>
  <p:tag name="TABLE_ENDDRAG_RECT" val="122*75*792*35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373"/>
  <p:tag name="TABLE_ENDDRAG_RECT" val="30*51*884*3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324"/>
  <p:tag name="TABLE_ENDDRAG_RECT" val="73*80*742*3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6*361"/>
  <p:tag name="TABLE_ENDDRAG_RECT" val="70*100*836*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3318</Words>
  <Application>Microsoft Office PowerPoint</Application>
  <PresentationFormat>Widescreen</PresentationFormat>
  <Paragraphs>277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Bell MT</vt:lpstr>
      <vt:lpstr>Calibri</vt:lpstr>
      <vt:lpstr>Calibri Light</vt:lpstr>
      <vt:lpstr>Georgia</vt:lpstr>
      <vt:lpstr>Old English Text MT</vt:lpstr>
      <vt:lpstr>Times New Roman</vt:lpstr>
      <vt:lpstr>Wingdings</vt:lpstr>
      <vt:lpstr>Wingdings 3</vt:lpstr>
      <vt:lpstr>Office Theme</vt:lpstr>
      <vt:lpstr>PowerPoint Presentation</vt:lpstr>
      <vt:lpstr>A Transformer-Based Detector for Network Steganography with Improved Generalization </vt:lpstr>
      <vt:lpstr>Team member name:</vt:lpstr>
      <vt:lpstr>Contents</vt:lpstr>
      <vt:lpstr>Introduction</vt:lpstr>
      <vt:lpstr>Existing Systems</vt:lpstr>
      <vt:lpstr>Problem Statement</vt:lpstr>
      <vt:lpstr>Proposed Solution</vt:lpstr>
      <vt:lpstr>Proposed Solution</vt:lpstr>
      <vt:lpstr>Diagrams – End –to-End pipeline of Transformer based detector for an Network Steganography </vt:lpstr>
      <vt:lpstr>Diagrams – Multi protocol Dataset combination </vt:lpstr>
      <vt:lpstr>Diagrams – Preprocessing</vt:lpstr>
      <vt:lpstr>PowerPoint Presentation</vt:lpstr>
      <vt:lpstr>Next team member:</vt:lpstr>
      <vt:lpstr>Diagrams – Dataset Generation</vt:lpstr>
      <vt:lpstr>Diagrams - Packet to flow level features conversion </vt:lpstr>
      <vt:lpstr>PowerPoint Presentation</vt:lpstr>
      <vt:lpstr>PowerPoint Presentation</vt:lpstr>
      <vt:lpstr>Project Scope</vt:lpstr>
      <vt:lpstr>Functional Requirements</vt:lpstr>
      <vt:lpstr>Project Objectives</vt:lpstr>
      <vt:lpstr>Diagrams –Architecture Design Diagram(StegFix)</vt:lpstr>
      <vt:lpstr>Tools &amp; Technologies</vt:lpstr>
      <vt:lpstr>PowerPoint Presentation</vt:lpstr>
      <vt:lpstr>Next team member:</vt:lpstr>
      <vt:lpstr>Diagrams - Use Case Diagram</vt:lpstr>
      <vt:lpstr>Diagrams -ERD</vt:lpstr>
      <vt:lpstr>Diagrams –Class Diagram</vt:lpstr>
      <vt:lpstr>Diagrams –Database Design</vt:lpstr>
      <vt:lpstr>Diagrams –Sequence Diagram</vt:lpstr>
      <vt:lpstr>Diagrams –Sequence Diagram</vt:lpstr>
      <vt:lpstr>Diagrams –Sequence Diagram</vt:lpstr>
      <vt:lpstr> Conclusion &amp; Future Work </vt:lpstr>
      <vt:lpstr>App - 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Tasks Distribution</vt:lpstr>
      <vt:lpstr> REFERENCES: </vt:lpstr>
      <vt:lpstr> REFERENCES: </vt:lpstr>
      <vt:lpstr> REFERENCES: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</dc:creator>
  <cp:lastModifiedBy>Malaika Umbreen</cp:lastModifiedBy>
  <cp:revision>117</cp:revision>
  <dcterms:created xsi:type="dcterms:W3CDTF">2022-01-10T02:16:00Z</dcterms:created>
  <dcterms:modified xsi:type="dcterms:W3CDTF">2026-06-16T18:57:19Z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D77446608FFE49CDA8A0FA9DD48DF119_12</vt:lpwstr>
  </property>
  <property fmtid="{D5CDD505-2E9C-101B-9397-08002B2CF9AE}" pid="3" name="KSOProductBuildVer">
    <vt:lpwstr>2057-12.2.0.23202</vt:lpwstr>
  </property>
</Properties>
</file>